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lay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67582-8581-48B4-AC43-3D84905CAF80}">
  <a:tblStyle styleId="{53C67582-8581-48B4-AC43-3D84905CAF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ay-regular.fntdata"/><Relationship Id="rId21" Type="http://schemas.openxmlformats.org/officeDocument/2006/relationships/slide" Target="slides/slide14.xml"/><Relationship Id="rId24" Type="http://schemas.openxmlformats.org/officeDocument/2006/relationships/font" Target="fonts/SpaceGrotesk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dc6361e6b_3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8dc6361e6b_3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8dc6361e6b_3_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dc6361e6b_3_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8dc6361e6b_3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46d76cebb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b46d76cebb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3cf5a4c5d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3cf5a4c5d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4e19c499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4e19c499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4e19c499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4e19c4998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56654cb29_6_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56654cb29_6_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e19c4998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4e19c4998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4e19c4998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4e19c4998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56654cb29_6_5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56654cb29_6_5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4e19c4998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4e19c4998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4e19c4998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d4e19c4998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56654cb29_6_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56654cb29_6_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dc6361e6b_3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8dc6361e6b_3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4"/>
          <p:cNvGrpSpPr/>
          <p:nvPr/>
        </p:nvGrpSpPr>
        <p:grpSpPr>
          <a:xfrm>
            <a:off x="231993" y="2454903"/>
            <a:ext cx="8680015" cy="2690634"/>
            <a:chOff x="309324" y="4684536"/>
            <a:chExt cx="11573353" cy="2176008"/>
          </a:xfrm>
        </p:grpSpPr>
        <p:sp>
          <p:nvSpPr>
            <p:cNvPr id="77" name="Google Shape;77;p14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523144" y="5140280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6101400" y="5294244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9324" y="5063298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7372528" y="5217262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8190654" y="4603778"/>
            <a:ext cx="667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15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2526599" y="2988403"/>
            <a:ext cx="3964200" cy="329400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522969" y="3515185"/>
            <a:ext cx="4005600" cy="329400"/>
          </a:xfrm>
          <a:prstGeom prst="roundRect">
            <a:avLst>
              <a:gd fmla="val 18112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ntent no picture">
  <p:cSld name="Single content no pictur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1021781" y="1494145"/>
            <a:ext cx="7427700" cy="1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636636" y="1690733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>
            <p:ph idx="2" type="pic"/>
          </p:nvPr>
        </p:nvSpPr>
        <p:spPr>
          <a:xfrm>
            <a:off x="761663" y="989242"/>
            <a:ext cx="3629400" cy="31017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106" name="Google Shape;106;p17"/>
          <p:cNvGrpSpPr/>
          <p:nvPr/>
        </p:nvGrpSpPr>
        <p:grpSpPr>
          <a:xfrm>
            <a:off x="231993" y="2454903"/>
            <a:ext cx="8680015" cy="2690634"/>
            <a:chOff x="309324" y="4684536"/>
            <a:chExt cx="11573353" cy="2176008"/>
          </a:xfrm>
        </p:grpSpPr>
        <p:sp>
          <p:nvSpPr>
            <p:cNvPr id="107" name="Google Shape;107;p17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3523144" y="5140280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6101400" y="5294244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309324" y="5063298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7372528" y="5217262"/>
              <a:ext cx="25200" cy="15663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26" name="Google Shape;126;p17"/>
          <p:cNvSpPr txBox="1"/>
          <p:nvPr/>
        </p:nvSpPr>
        <p:spPr>
          <a:xfrm>
            <a:off x="8190654" y="4603778"/>
            <a:ext cx="667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15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28" name="Google Shape;128;p17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>
            <p:ph idx="2" type="pic"/>
          </p:nvPr>
        </p:nvSpPr>
        <p:spPr>
          <a:xfrm>
            <a:off x="2017936" y="986725"/>
            <a:ext cx="2716200" cy="1435200"/>
          </a:xfrm>
          <a:prstGeom prst="roundRect">
            <a:avLst>
              <a:gd fmla="val 947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31" name="Google Shape;131;p18"/>
          <p:cNvSpPr/>
          <p:nvPr>
            <p:ph idx="3" type="pic"/>
          </p:nvPr>
        </p:nvSpPr>
        <p:spPr>
          <a:xfrm>
            <a:off x="2017936" y="2684381"/>
            <a:ext cx="2716200" cy="1435200"/>
          </a:xfrm>
          <a:prstGeom prst="roundRect">
            <a:avLst>
              <a:gd fmla="val 1028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5044958" y="1276023"/>
            <a:ext cx="1012800" cy="10128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6" name="Google Shape;136;p19"/>
          <p:cNvSpPr/>
          <p:nvPr>
            <p:ph idx="3" type="pic"/>
          </p:nvPr>
        </p:nvSpPr>
        <p:spPr>
          <a:xfrm>
            <a:off x="5044373" y="2869406"/>
            <a:ext cx="1013100" cy="10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942272" y="1020945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>
            <p:ph idx="2" type="pic"/>
          </p:nvPr>
        </p:nvSpPr>
        <p:spPr>
          <a:xfrm>
            <a:off x="981525" y="870857"/>
            <a:ext cx="3222300" cy="1611000"/>
          </a:xfrm>
          <a:prstGeom prst="roundRect">
            <a:avLst>
              <a:gd fmla="val 1045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41" name="Google Shape;141;p20"/>
          <p:cNvSpPr/>
          <p:nvPr>
            <p:ph idx="3" type="pic"/>
          </p:nvPr>
        </p:nvSpPr>
        <p:spPr>
          <a:xfrm>
            <a:off x="2387851" y="2640264"/>
            <a:ext cx="1818900" cy="1529400"/>
          </a:xfrm>
          <a:prstGeom prst="roundRect">
            <a:avLst>
              <a:gd fmla="val 1152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42" name="Google Shape;142;p20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>
            <p:ph idx="2" type="pic"/>
          </p:nvPr>
        </p:nvSpPr>
        <p:spPr>
          <a:xfrm>
            <a:off x="5273608" y="514350"/>
            <a:ext cx="3413100" cy="34131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46" name="Google Shape;146;p21"/>
          <p:cNvSpPr/>
          <p:nvPr>
            <p:ph idx="3" type="pic"/>
          </p:nvPr>
        </p:nvSpPr>
        <p:spPr>
          <a:xfrm>
            <a:off x="4772504" y="2800192"/>
            <a:ext cx="1455600" cy="1455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556483" y="918074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>
            <p:ph idx="2" type="pic"/>
          </p:nvPr>
        </p:nvSpPr>
        <p:spPr>
          <a:xfrm>
            <a:off x="0" y="952764"/>
            <a:ext cx="4291200" cy="1579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1" name="Google Shape;151;p22"/>
          <p:cNvSpPr/>
          <p:nvPr>
            <p:ph idx="3" type="pic"/>
          </p:nvPr>
        </p:nvSpPr>
        <p:spPr>
          <a:xfrm>
            <a:off x="0" y="2677357"/>
            <a:ext cx="2392200" cy="1579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>
            <p:ph idx="2" type="pic"/>
          </p:nvPr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6" name="Google Shape;156;p23"/>
          <p:cNvSpPr/>
          <p:nvPr>
            <p:ph idx="3" type="pic"/>
          </p:nvPr>
        </p:nvSpPr>
        <p:spPr>
          <a:xfrm>
            <a:off x="1338943" y="1897012"/>
            <a:ext cx="2939100" cy="16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57" name="Google Shape;157;p23"/>
          <p:cNvSpPr/>
          <p:nvPr>
            <p:ph idx="4" type="pic"/>
          </p:nvPr>
        </p:nvSpPr>
        <p:spPr>
          <a:xfrm>
            <a:off x="4912179" y="1897012"/>
            <a:ext cx="2939100" cy="16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>
            <p:ph idx="2" type="pic"/>
          </p:nvPr>
        </p:nvSpPr>
        <p:spPr>
          <a:xfrm>
            <a:off x="3679214" y="970472"/>
            <a:ext cx="2637000" cy="4173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>
            <p:ph idx="2" type="pic"/>
          </p:nvPr>
        </p:nvSpPr>
        <p:spPr>
          <a:xfrm>
            <a:off x="2856336" y="921123"/>
            <a:ext cx="2018100" cy="23544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3" name="Google Shape;163;p25"/>
          <p:cNvSpPr/>
          <p:nvPr>
            <p:ph idx="3" type="pic"/>
          </p:nvPr>
        </p:nvSpPr>
        <p:spPr>
          <a:xfrm>
            <a:off x="2856336" y="3402106"/>
            <a:ext cx="2018100" cy="1741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>
            <p:ph idx="2" type="pic"/>
          </p:nvPr>
        </p:nvSpPr>
        <p:spPr>
          <a:xfrm>
            <a:off x="4872658" y="1039889"/>
            <a:ext cx="3448800" cy="306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756704" y="1002001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793872" y="1227295"/>
            <a:ext cx="3497700" cy="19452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5556306" y="888539"/>
            <a:ext cx="2999100" cy="25983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1057362" y="1020945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231993" y="2454780"/>
            <a:ext cx="8680015" cy="2690688"/>
            <a:chOff x="309324" y="3273040"/>
            <a:chExt cx="11573353" cy="3587584"/>
          </a:xfrm>
        </p:grpSpPr>
        <p:sp>
          <p:nvSpPr>
            <p:cNvPr id="52" name="Google Shape;52;p13"/>
            <p:cNvSpPr/>
            <p:nvPr/>
          </p:nvSpPr>
          <p:spPr>
            <a:xfrm>
              <a:off x="1580452" y="3273040"/>
              <a:ext cx="61200" cy="2661831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523144" y="4024394"/>
              <a:ext cx="25200" cy="25824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6101400" y="4278224"/>
              <a:ext cx="25200" cy="25824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9324" y="3897479"/>
              <a:ext cx="25200" cy="25824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429836" y="3689333"/>
              <a:ext cx="61200" cy="2661831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8643656" y="3481186"/>
              <a:ext cx="61200" cy="2661831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7372528" y="4151309"/>
              <a:ext cx="25200" cy="2582400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944888" y="4912799"/>
              <a:ext cx="25200" cy="1942149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252016" y="5547373"/>
              <a:ext cx="25200" cy="1308010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887580" y="5166629"/>
              <a:ext cx="25200" cy="1688493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158708" y="4405139"/>
              <a:ext cx="25200" cy="2449460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4794272" y="4532054"/>
              <a:ext cx="25200" cy="232263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6736964" y="5674288"/>
              <a:ext cx="25200" cy="1181182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8008092" y="5039714"/>
              <a:ext cx="25200" cy="1815321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9315220" y="4785884"/>
              <a:ext cx="25200" cy="2068977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9950784" y="5420459"/>
              <a:ext cx="25200" cy="1434837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0586348" y="5801197"/>
              <a:ext cx="25200" cy="1054362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1221912" y="4658969"/>
              <a:ext cx="25200" cy="2195804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11857477" y="5293544"/>
              <a:ext cx="25200" cy="1561665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1" name="Google Shape;71;p13"/>
          <p:cNvSpPr txBox="1"/>
          <p:nvPr/>
        </p:nvSpPr>
        <p:spPr>
          <a:xfrm>
            <a:off x="232142" y="283517"/>
            <a:ext cx="149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PowerShell + DevOps </a:t>
            </a:r>
            <a:r>
              <a:rPr b="1" i="0" lang="en" sz="11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Summit</a:t>
            </a:r>
            <a:endParaRPr sz="1100"/>
          </a:p>
        </p:txBody>
      </p:sp>
      <p:sp>
        <p:nvSpPr>
          <p:cNvPr id="72" name="Google Shape;72;p13"/>
          <p:cNvSpPr txBox="1"/>
          <p:nvPr/>
        </p:nvSpPr>
        <p:spPr>
          <a:xfrm>
            <a:off x="3788079" y="4651370"/>
            <a:ext cx="1494000" cy="230700"/>
          </a:xfrm>
          <a:prstGeom prst="rect">
            <a:avLst/>
          </a:prstGeom>
          <a:solidFill>
            <a:srgbClr val="2298B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April 13-16</a:t>
            </a:r>
            <a:r>
              <a:rPr b="1" i="0" lang="en" sz="11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2026</a:t>
            </a:r>
            <a:endParaRPr sz="1100"/>
          </a:p>
        </p:txBody>
      </p:sp>
      <p:pic>
        <p:nvPicPr>
          <p:cNvPr descr="See the source image" id="73" name="Google Shape;7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263" y="4659309"/>
            <a:ext cx="1111825" cy="391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text on a black background&#10;&#10;AI-generated content may be incorrect." id="74" name="Google Shape;7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04831" y="139189"/>
            <a:ext cx="1632778" cy="3924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9"/>
          <p:cNvGrpSpPr/>
          <p:nvPr/>
        </p:nvGrpSpPr>
        <p:grpSpPr>
          <a:xfrm>
            <a:off x="231993" y="2454780"/>
            <a:ext cx="8680015" cy="2690709"/>
            <a:chOff x="309324" y="4684536"/>
            <a:chExt cx="11573353" cy="2176115"/>
          </a:xfrm>
        </p:grpSpPr>
        <p:sp>
          <p:nvSpPr>
            <p:cNvPr id="183" name="Google Shape;183;p29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5" name="Google Shape;185;p29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6" name="Google Shape;186;p29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7" name="Google Shape;187;p29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8" name="Google Shape;188;p29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9" name="Google Shape;189;p29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0" name="Google Shape;190;p29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5" name="Google Shape;195;p29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6" name="Google Shape;196;p29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7" name="Google Shape;197;p29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8" name="Google Shape;198;p29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0" name="Google Shape;200;p29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1" name="Google Shape;201;p29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4705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202" name="Google Shape;202;p29"/>
          <p:cNvSpPr txBox="1"/>
          <p:nvPr/>
        </p:nvSpPr>
        <p:spPr>
          <a:xfrm>
            <a:off x="147485" y="1051834"/>
            <a:ext cx="88491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 your PowerShell to the next level with error handling and debugging</a:t>
            </a:r>
            <a:endParaRPr sz="200"/>
          </a:p>
        </p:txBody>
      </p:sp>
      <p:sp>
        <p:nvSpPr>
          <p:cNvPr id="203" name="Google Shape;203;p29"/>
          <p:cNvSpPr txBox="1"/>
          <p:nvPr/>
        </p:nvSpPr>
        <p:spPr>
          <a:xfrm>
            <a:off x="2522968" y="2970197"/>
            <a:ext cx="3967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Matt McElreath</a:t>
            </a:r>
            <a:endParaRPr sz="1100"/>
          </a:p>
        </p:txBody>
      </p:sp>
      <p:sp>
        <p:nvSpPr>
          <p:cNvPr id="204" name="Google Shape;204;p29"/>
          <p:cNvSpPr txBox="1"/>
          <p:nvPr/>
        </p:nvSpPr>
        <p:spPr>
          <a:xfrm>
            <a:off x="8190654" y="4603777"/>
            <a:ext cx="66790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" sz="1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15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2526599" y="2999977"/>
            <a:ext cx="3964200" cy="329400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2430175" y="3515175"/>
            <a:ext cx="4294200" cy="692400"/>
          </a:xfrm>
          <a:prstGeom prst="roundRect">
            <a:avLst>
              <a:gd fmla="val 18112" name="adj"/>
            </a:avLst>
          </a:prstGeom>
          <a:gradFill>
            <a:gsLst>
              <a:gs pos="0">
                <a:srgbClr val="2B2D78"/>
              </a:gs>
              <a:gs pos="100000">
                <a:srgbClr val="92278F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B2D7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2382450" y="3584301"/>
            <a:ext cx="43791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https://github.com/mmcelreath/summit-2026</a:t>
            </a:r>
            <a:endParaRPr b="1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https://www.linkedin.com/in/matt-mcelreath-ma/</a:t>
            </a:r>
            <a:endParaRPr b="1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901796" y="989242"/>
            <a:ext cx="35145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Solution Architect @ FM</a:t>
            </a:r>
            <a:br>
              <a:rPr lang="en"/>
            </a:b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Focus on Infrastructure Atuomation (With PowerShell of course)</a:t>
            </a:r>
            <a:br>
              <a:rPr lang="en"/>
            </a:b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Long time listener, first time presenter</a:t>
            </a:r>
            <a:br>
              <a:rPr lang="en"/>
            </a:b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1" title="PXL_20230422_002341594_Original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947" r="5947" t="0"/>
          <a:stretch/>
        </p:blipFill>
        <p:spPr>
          <a:xfrm>
            <a:off x="761663" y="989242"/>
            <a:ext cx="3629399" cy="3101698"/>
          </a:xfrm>
          <a:prstGeom prst="rect">
            <a:avLst/>
          </a:prstGeom>
        </p:spPr>
      </p:pic>
      <p:sp>
        <p:nvSpPr>
          <p:cNvPr id="219" name="Google Shape;219;p31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About Me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/>
        </p:nvSpPr>
        <p:spPr>
          <a:xfrm>
            <a:off x="147485" y="1051834"/>
            <a:ext cx="88491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Handling and Debugging with PowerShell</a:t>
            </a:r>
            <a:endParaRPr sz="200"/>
          </a:p>
        </p:txBody>
      </p:sp>
      <p:sp>
        <p:nvSpPr>
          <p:cNvPr id="225" name="Google Shape;225;p32"/>
          <p:cNvSpPr txBox="1"/>
          <p:nvPr/>
        </p:nvSpPr>
        <p:spPr>
          <a:xfrm>
            <a:off x="1742100" y="2851875"/>
            <a:ext cx="56598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https://www.youtube.com/@PowershellOrg</a:t>
            </a:r>
            <a:endParaRPr b="1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868" y="633047"/>
            <a:ext cx="6702275" cy="37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1021775" y="1494154"/>
            <a:ext cx="7647300" cy="292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$Error is an automatic array variable that stores all error records from the current PowerShell session, with the most recent error at index 0.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Can also use Get-Error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In try/catch blocks, $_ represents the current error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$? - Did the last command succeed - true/false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$Error.Clear()- Clears the error history for the current session</a:t>
            </a:r>
            <a:endParaRPr/>
          </a:p>
        </p:txBody>
      </p:sp>
      <p:sp>
        <p:nvSpPr>
          <p:cNvPr id="236" name="Google Shape;236;p34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$Error variable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1518300" y="1927451"/>
            <a:ext cx="6107400" cy="11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Demo</a:t>
            </a:r>
            <a:endParaRPr sz="7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Terminating Errors</a:t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602500" y="1020900"/>
            <a:ext cx="5511900" cy="310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8300" lvl="0" marL="457200" rtl="0" algn="l">
              <a:spcBef>
                <a:spcPts val="80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Terminating Errors</a:t>
            </a:r>
            <a:endParaRPr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Stops the pipeline/script </a:t>
            </a:r>
            <a:r>
              <a:rPr lang="en" sz="1900"/>
              <a:t>immediately unless caught (try/catch)</a:t>
            </a:r>
            <a:endParaRPr sz="19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Non-Terminating Errors</a:t>
            </a:r>
            <a:endParaRPr sz="22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Writes to the error stream then continues execution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The ultimate Terminator: Throw()</a:t>
            </a:r>
            <a:endParaRPr sz="1900"/>
          </a:p>
        </p:txBody>
      </p:sp>
      <p:pic>
        <p:nvPicPr>
          <p:cNvPr id="248" name="Google Shape;248;p36"/>
          <p:cNvPicPr preferRelativeResize="0"/>
          <p:nvPr/>
        </p:nvPicPr>
        <p:blipFill rotWithShape="1">
          <a:blip r:embed="rId3">
            <a:alphaModFix/>
          </a:blip>
          <a:srcRect b="21489" l="4714" r="5832" t="8493"/>
          <a:stretch/>
        </p:blipFill>
        <p:spPr>
          <a:xfrm>
            <a:off x="6281529" y="1057786"/>
            <a:ext cx="2555025" cy="26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1021775" y="1494154"/>
            <a:ext cx="7446600" cy="292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Variable </a:t>
            </a:r>
            <a:r>
              <a:rPr lang="en"/>
              <a:t>which defines how PowerShell should respond to Non-Terminating Errors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Can be configured on a command by command basis using: -ErrorAction</a:t>
            </a:r>
            <a:endParaRPr/>
          </a:p>
        </p:txBody>
      </p:sp>
      <p:sp>
        <p:nvSpPr>
          <p:cNvPr id="254" name="Google Shape;254;p37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$</a:t>
            </a:r>
            <a:r>
              <a:rPr lang="en" sz="3900"/>
              <a:t>ErrorActionPreference</a:t>
            </a:r>
            <a:endParaRPr sz="3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1518300" y="1927451"/>
            <a:ext cx="6107400" cy="11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Demo</a:t>
            </a:r>
            <a:endParaRPr sz="7500"/>
          </a:p>
        </p:txBody>
      </p:sp>
      <p:sp>
        <p:nvSpPr>
          <p:cNvPr id="260" name="Google Shape;260;p38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Terminating Errors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1681925" y="118568"/>
            <a:ext cx="6107400" cy="99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Try/Catch</a:t>
            </a:r>
            <a:endParaRPr/>
          </a:p>
        </p:txBody>
      </p:sp>
      <p:sp>
        <p:nvSpPr>
          <p:cNvPr id="266" name="Google Shape;266;p39"/>
          <p:cNvSpPr txBox="1"/>
          <p:nvPr>
            <p:ph type="title"/>
          </p:nvPr>
        </p:nvSpPr>
        <p:spPr>
          <a:xfrm>
            <a:off x="1518300" y="1927451"/>
            <a:ext cx="6107400" cy="11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Demo</a:t>
            </a:r>
            <a:endParaRPr sz="7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1460483" y="209166"/>
            <a:ext cx="6107400" cy="847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Throw() vs. Write-Error</a:t>
            </a:r>
            <a:endParaRPr sz="4300"/>
          </a:p>
        </p:txBody>
      </p:sp>
      <p:graphicFrame>
        <p:nvGraphicFramePr>
          <p:cNvPr id="272" name="Google Shape;272;p40"/>
          <p:cNvGraphicFramePr/>
          <p:nvPr/>
        </p:nvGraphicFramePr>
        <p:xfrm>
          <a:off x="831688" y="1046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{53C67582-8581-48B4-AC43-3D84905CAF80}</a:tableStyleId>
              </a:tblPr>
              <a:tblGrid>
                <a:gridCol w="2338400"/>
                <a:gridCol w="2338400"/>
                <a:gridCol w="2803825"/>
              </a:tblGrid>
              <a:tr h="3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throw()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Write-Error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Error 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Terminating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Non-Terminating (by default)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Stops Execution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✅Always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❌No (by default)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Stops Pipeline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❌No (continues to next input object)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Catchable wiith try/catch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✅Always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❌Only with -ErrorAction Stop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Writes to error stream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Typical Use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Fatal / Unrecoverable conditions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Recoverable / Per-item failures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1518300" y="1927451"/>
            <a:ext cx="6107400" cy="11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Demo</a:t>
            </a:r>
            <a:endParaRPr sz="7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/>
        </p:nvSpPr>
        <p:spPr>
          <a:xfrm>
            <a:off x="697397" y="433399"/>
            <a:ext cx="7742638" cy="1511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4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sz="1100"/>
          </a:p>
        </p:txBody>
      </p:sp>
      <p:sp>
        <p:nvSpPr>
          <p:cNvPr id="283" name="Google Shape;283;p42"/>
          <p:cNvSpPr txBox="1"/>
          <p:nvPr/>
        </p:nvSpPr>
        <p:spPr>
          <a:xfrm>
            <a:off x="669412" y="2183360"/>
            <a:ext cx="7796372" cy="1915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small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Feedback is a gift</a:t>
            </a:r>
            <a:br>
              <a:rPr b="1" i="0" lang="en" sz="4100" u="none" cap="small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review this session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the mobile App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42"/>
          <p:cNvCxnSpPr/>
          <p:nvPr/>
        </p:nvCxnSpPr>
        <p:spPr>
          <a:xfrm>
            <a:off x="673814" y="2933700"/>
            <a:ext cx="7796372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