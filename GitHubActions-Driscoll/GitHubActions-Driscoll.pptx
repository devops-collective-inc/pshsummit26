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1" r:id="rId6"/>
    <p:sldId id="273" r:id="rId7"/>
    <p:sldId id="274" r:id="rId8"/>
    <p:sldId id="275" r:id="rId9"/>
    <p:sldId id="276" r:id="rId10"/>
    <p:sldId id="278" r:id="rId11"/>
    <p:sldId id="277" r:id="rId12"/>
    <p:sldId id="27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D78"/>
    <a:srgbClr val="92278F"/>
    <a:srgbClr val="000000"/>
    <a:srgbClr val="7030A0"/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5C2D19-0730-64B5-0129-8732EE7DB6CC}" v="123" dt="2025-10-13T14:42:52.300"/>
    <p1510:client id="{E04624FD-B794-4535-80F2-2C1BB0C1FAB3}" v="18" dt="2025-10-13T14:39:0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22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13-16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2026</a:t>
            </a:r>
          </a:p>
        </p:txBody>
      </p:sp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E00CA1F1-F557-714B-4166-78EB6EB1A08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739775" y="185585"/>
            <a:ext cx="2177038" cy="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tions/labeler" TargetMode="External"/><Relationship Id="rId2" Type="http://schemas.openxmlformats.org/officeDocument/2006/relationships/hyperlink" Target="https://github.com/actions/checkou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arketplace?type=actions" TargetMode="External"/><Relationship Id="rId5" Type="http://schemas.openxmlformats.org/officeDocument/2006/relationships/hyperlink" Target="https://github.com/actions/upload-pages-artifact" TargetMode="External"/><Relationship Id="rId4" Type="http://schemas.openxmlformats.org/officeDocument/2006/relationships/hyperlink" Target="https://github.com/actions/setup-dotnet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viatrix.ai/threat-research-center/github-actions-supply-chain-attack-2025/" TargetMode="External"/><Relationship Id="rId2" Type="http://schemas.openxmlformats.org/officeDocument/2006/relationships/hyperlink" Target="https://snyk.io/articles/trivy-github-actions-supply-chain-compromis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github.com/en/enterprise-cloud@latest/organizations/managing-organization-settings/disabling-or-limiting-github-actions-for-your-organization" TargetMode="External"/><Relationship Id="rId4" Type="http://schemas.openxmlformats.org/officeDocument/2006/relationships/hyperlink" Target="https://github.com/offensive-actions/release-tampering-pocs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100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GitHub Actions</a:t>
            </a:r>
          </a:p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For Fun and Profit</a:t>
            </a:r>
            <a:endParaRPr lang="en-US" sz="4800" b="1" dirty="0">
              <a:ln>
                <a:solidFill>
                  <a:schemeClr val="bg1"/>
                </a:solidFill>
              </a:ln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Adam Driscoll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1" spc="400" dirty="0">
                <a:latin typeface="Play"/>
                <a:cs typeface="Space Grotesk" pitchFamily="2" charset="0"/>
              </a:rPr>
              <a:t>@adamrdriscoll.com</a:t>
            </a:r>
          </a:p>
        </p:txBody>
      </p:sp>
      <p:pic>
        <p:nvPicPr>
          <p:cNvPr id="28" name="Picture 27" descr="Bluesky Logo (App) - PNG Logo Vector Brand Downloads (SVG, EPS)">
            <a:extLst>
              <a:ext uri="{FF2B5EF4-FFF2-40B4-BE49-F238E27FC236}">
                <a16:creationId xmlns:a16="http://schemas.microsoft.com/office/drawing/2014/main" id="{EFF3C9E7-E01C-2A5A-BB44-4F7B5CCFA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81" y="4455292"/>
            <a:ext cx="911262" cy="91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D68DBD-36B9-BABE-9385-3280AB00065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7F25B8-F064-5FCD-3737-6C6592FBDA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7AFD9D-6FC2-1DB0-D24F-07FE1029A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48FD4-8794-C631-53C6-F580D166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C98747-D355-D755-75A4-1B1B1E878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5971113" cy="2293937"/>
          </a:xfrm>
        </p:spPr>
        <p:txBody>
          <a:bodyPr/>
          <a:lstStyle/>
          <a:p>
            <a:r>
              <a:rPr lang="en-US" dirty="0"/>
              <a:t>Developer @ Devolutions</a:t>
            </a:r>
          </a:p>
          <a:p>
            <a:r>
              <a:rPr lang="en-US" dirty="0"/>
              <a:t>Former PS MVP and Business Owner</a:t>
            </a:r>
          </a:p>
          <a:p>
            <a:r>
              <a:rPr lang="en-US" dirty="0"/>
              <a:t>Creator of PowerShell Universal</a:t>
            </a:r>
          </a:p>
          <a:p>
            <a:r>
              <a:rPr lang="en-US" dirty="0"/>
              <a:t>Tinkerer</a:t>
            </a:r>
          </a:p>
          <a:p>
            <a:r>
              <a:rPr lang="en-US" dirty="0"/>
              <a:t>Endurance Athlete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A8BB5E-8110-1CCD-9E66-DD27FAB031C7}"/>
              </a:ext>
            </a:extLst>
          </p:cNvPr>
          <p:cNvSpPr txBox="1"/>
          <p:nvPr/>
        </p:nvSpPr>
        <p:spPr>
          <a:xfrm>
            <a:off x="633120" y="158861"/>
            <a:ext cx="10632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About 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070D65-F228-8D46-48EA-52ECDCA9D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354" y="1542448"/>
            <a:ext cx="3129413" cy="417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7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1D3FA-400D-F192-43A6-F2C75155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F7ABE7-CF41-6A97-D671-97334289F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435327" cy="2293937"/>
          </a:xfrm>
        </p:spPr>
        <p:txBody>
          <a:bodyPr/>
          <a:lstStyle/>
          <a:p>
            <a:r>
              <a:rPr lang="en-US" dirty="0"/>
              <a:t>Workflows run as part of a repository</a:t>
            </a:r>
          </a:p>
          <a:p>
            <a:r>
              <a:rPr lang="en-US" dirty="0"/>
              <a:t>Triggered manually, scheduled and on events</a:t>
            </a:r>
          </a:p>
          <a:p>
            <a:r>
              <a:rPr lang="en-US" dirty="0"/>
              <a:t>Declarative YAML syntax</a:t>
            </a:r>
          </a:p>
          <a:p>
            <a:r>
              <a:rPr lang="en-US" dirty="0"/>
              <a:t>Composed of actions</a:t>
            </a:r>
          </a:p>
          <a:p>
            <a:r>
              <a:rPr lang="en-US" dirty="0"/>
              <a:t>Configurable runners, secrets, variables and environments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258D2-6A1A-A5DC-EE14-C1086D75E05A}"/>
              </a:ext>
            </a:extLst>
          </p:cNvPr>
          <p:cNvSpPr txBox="1"/>
          <p:nvPr/>
        </p:nvSpPr>
        <p:spPr>
          <a:xfrm>
            <a:off x="633120" y="158861"/>
            <a:ext cx="10632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GitHub Actions</a:t>
            </a:r>
          </a:p>
        </p:txBody>
      </p:sp>
    </p:spTree>
    <p:extLst>
      <p:ext uri="{BB962C8B-B14F-4D97-AF65-F5344CB8AC3E}">
        <p14:creationId xmlns:p14="http://schemas.microsoft.com/office/powerpoint/2010/main" val="386360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B446B-C713-3213-E83F-CDDB582B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B7D10D-346C-1236-CDCF-1E52F640F95C}"/>
              </a:ext>
            </a:extLst>
          </p:cNvPr>
          <p:cNvSpPr txBox="1"/>
          <p:nvPr/>
        </p:nvSpPr>
        <p:spPr>
          <a:xfrm>
            <a:off x="633120" y="158861"/>
            <a:ext cx="10632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GitHub Actions Dictionary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9D0230-A5A3-8424-1A62-31C49623B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246" y="1251529"/>
            <a:ext cx="3162741" cy="2293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Workflows</a:t>
            </a:r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247742-3E2F-396B-D3FF-0DEB1A098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47" y="1858924"/>
            <a:ext cx="3162741" cy="237205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E55C734-E6F4-BDC8-800B-C5E90BAC638D}"/>
              </a:ext>
            </a:extLst>
          </p:cNvPr>
          <p:cNvSpPr txBox="1">
            <a:spLocks/>
          </p:cNvSpPr>
          <p:nvPr/>
        </p:nvSpPr>
        <p:spPr>
          <a:xfrm>
            <a:off x="7931604" y="1251528"/>
            <a:ext cx="3162741" cy="2293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Actions</a:t>
            </a:r>
            <a:endParaRPr lang="en-CA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4CECAA-5469-E8F1-185A-67A1E2CF3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356" y="1858923"/>
            <a:ext cx="3562847" cy="647790"/>
          </a:xfrm>
          <a:prstGeom prst="rect">
            <a:avLst/>
          </a:prstGeo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1FB6CE2-7981-104F-5024-E5E5F3DFA062}"/>
              </a:ext>
            </a:extLst>
          </p:cNvPr>
          <p:cNvSpPr txBox="1">
            <a:spLocks/>
          </p:cNvSpPr>
          <p:nvPr/>
        </p:nvSpPr>
        <p:spPr>
          <a:xfrm>
            <a:off x="3687998" y="1251528"/>
            <a:ext cx="3162741" cy="2293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Jobs and Steps</a:t>
            </a:r>
            <a:endParaRPr lang="en-C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C3B7AB-4228-8BBC-5E2C-C0E2DD149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997" y="1834843"/>
            <a:ext cx="4016350" cy="312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13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2549E-817F-508B-9888-C816A3C6C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6E9DA9-5982-4BB5-7345-A34B301EF582}"/>
              </a:ext>
            </a:extLst>
          </p:cNvPr>
          <p:cNvSpPr txBox="1"/>
          <p:nvPr/>
        </p:nvSpPr>
        <p:spPr>
          <a:xfrm>
            <a:off x="633120" y="158861"/>
            <a:ext cx="10632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GitHub Actions Dictionary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8570E-0CEA-9F3C-1E26-D6DB6A0BC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246" y="1251529"/>
            <a:ext cx="3162741" cy="229393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Agents</a:t>
            </a:r>
            <a:endParaRPr lang="en-CA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4B2C541-AB41-40D9-B857-BA418BBC5B9C}"/>
              </a:ext>
            </a:extLst>
          </p:cNvPr>
          <p:cNvSpPr txBox="1">
            <a:spLocks/>
          </p:cNvSpPr>
          <p:nvPr/>
        </p:nvSpPr>
        <p:spPr>
          <a:xfrm>
            <a:off x="7931604" y="1251528"/>
            <a:ext cx="3162741" cy="2293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Secrets</a:t>
            </a:r>
            <a:endParaRPr lang="en-CA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40FBC5A-8C01-B38D-BB6F-0E7888209F1B}"/>
              </a:ext>
            </a:extLst>
          </p:cNvPr>
          <p:cNvSpPr txBox="1">
            <a:spLocks/>
          </p:cNvSpPr>
          <p:nvPr/>
        </p:nvSpPr>
        <p:spPr>
          <a:xfrm>
            <a:off x="3687998" y="1251528"/>
            <a:ext cx="3162741" cy="22939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Variables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457A6-BA12-710F-612C-F22EAF727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5" y="1874062"/>
            <a:ext cx="3461033" cy="30508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B6DB8F-A052-AB41-AD51-649029C46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79" y="1858923"/>
            <a:ext cx="2676899" cy="2924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C9F20F-8303-C353-7C29-B9A636FE3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54" y="2315642"/>
            <a:ext cx="4404224" cy="108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7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8300AC-B63E-E210-1782-58B16CB81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actions/checkout: Action for checking out a repo</a:t>
            </a:r>
            <a:endParaRPr lang="en-US" dirty="0"/>
          </a:p>
          <a:p>
            <a:r>
              <a:rPr lang="en-US" dirty="0">
                <a:hlinkClick r:id="rId3"/>
              </a:rPr>
              <a:t>actions/labeler: An action for automatically labelling pull requests</a:t>
            </a:r>
            <a:endParaRPr lang="en-US" dirty="0"/>
          </a:p>
          <a:p>
            <a:r>
              <a:rPr lang="en-US" dirty="0">
                <a:hlinkClick r:id="rId4"/>
              </a:rPr>
              <a:t>actions/setup-dotnet: Set up your GitHub Actions workflow with a specific version of the .NET core </a:t>
            </a:r>
            <a:r>
              <a:rPr lang="en-US" dirty="0" err="1">
                <a:hlinkClick r:id="rId4"/>
              </a:rPr>
              <a:t>sdk</a:t>
            </a:r>
            <a:endParaRPr lang="en-US" dirty="0"/>
          </a:p>
          <a:p>
            <a:r>
              <a:rPr lang="en-US" dirty="0">
                <a:hlinkClick r:id="rId5"/>
              </a:rPr>
              <a:t>actions/upload-pages-artifact: A composite action for packaging and uploading an artifact that can be deployed to GitHub Pages.</a:t>
            </a:r>
            <a:endParaRPr lang="en-US" dirty="0"/>
          </a:p>
          <a:p>
            <a:r>
              <a:rPr lang="en-CA" dirty="0">
                <a:hlinkClick r:id="rId6"/>
              </a:rPr>
              <a:t>Marketplace</a:t>
            </a:r>
            <a:endParaRPr lang="en-C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4BEBF6-8696-9637-477B-2B0023AE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49180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15740-ED88-49B4-1B24-0125DBA6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4BF708-F90C-F560-F07F-A3D4A81BC512}"/>
              </a:ext>
            </a:extLst>
          </p:cNvPr>
          <p:cNvSpPr txBox="1"/>
          <p:nvPr/>
        </p:nvSpPr>
        <p:spPr>
          <a:xfrm>
            <a:off x="633120" y="158861"/>
            <a:ext cx="106329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48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Demo!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9860E2-4496-C3F8-AD5D-4DBC787953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2F5F3-0028-3B3A-1515-C9ABA6A73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596" y="1278347"/>
            <a:ext cx="7878808" cy="503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4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02BCB6-5994-D141-8EFE-8DAB34BF5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Verify actions before using them in workflows</a:t>
            </a:r>
          </a:p>
          <a:p>
            <a:endParaRPr lang="en-US" dirty="0"/>
          </a:p>
          <a:p>
            <a:endParaRPr lang="en-CA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0D9725-2EA3-98CC-DF25-9B6BD530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3835400" algn="l"/>
              </a:tabLst>
            </a:pPr>
            <a:r>
              <a:rPr lang="en-US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cs typeface="Space Grotesk" pitchFamily="2" charset="0"/>
              </a:rPr>
              <a:t>Word of Caution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DB7354-7032-0EDB-3276-E788BC361919}"/>
              </a:ext>
            </a:extLst>
          </p:cNvPr>
          <p:cNvSpPr txBox="1"/>
          <p:nvPr/>
        </p:nvSpPr>
        <p:spPr>
          <a:xfrm>
            <a:off x="1828800" y="2954495"/>
            <a:ext cx="9552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hlinkClick r:id="rId2"/>
              </a:rPr>
              <a:t>Trivy</a:t>
            </a:r>
            <a:r>
              <a:rPr lang="en-US" dirty="0">
                <a:hlinkClick r:id="rId2"/>
              </a:rPr>
              <a:t> GitHub Actions Supply Chain Compromise | </a:t>
            </a:r>
            <a:r>
              <a:rPr lang="en-US" dirty="0" err="1">
                <a:hlinkClick r:id="rId2"/>
              </a:rPr>
              <a:t>Snyk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GitHub Actions Supply Chain Attack 2025: A Critical Security Breach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offensive-actions/release-tampering-</a:t>
            </a:r>
            <a:r>
              <a:rPr lang="en-US" dirty="0" err="1">
                <a:hlinkClick r:id="rId4"/>
              </a:rPr>
              <a:t>pocs</a:t>
            </a:r>
            <a:r>
              <a:rPr lang="en-US" dirty="0">
                <a:hlinkClick r:id="rId4"/>
              </a:rPr>
              <a:t>: Proof of Concepts for malicious maintainers: How to Tamper with Releases built with GitHub Actions </a:t>
            </a:r>
            <a:r>
              <a:rPr lang="en-US" dirty="0" err="1">
                <a:hlinkClick r:id="rId4"/>
              </a:rPr>
              <a:t>Worfklows</a:t>
            </a:r>
            <a:r>
              <a:rPr lang="en-US" dirty="0">
                <a:hlinkClick r:id="rId4"/>
              </a:rPr>
              <a:t>, presented at </a:t>
            </a:r>
            <a:r>
              <a:rPr lang="en-US" dirty="0" err="1">
                <a:hlinkClick r:id="rId4"/>
              </a:rPr>
              <a:t>fwd:cloudsec</a:t>
            </a:r>
            <a:r>
              <a:rPr lang="en-US" dirty="0">
                <a:hlinkClick r:id="rId4"/>
              </a:rPr>
              <a:t> Europe 2025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Disabling or limiting GitHub Actions for your organization - GitHub Enterprise Cloud Docs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975373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 dirty="0">
                <a:ln>
                  <a:solidFill>
                    <a:schemeClr val="bg1"/>
                  </a:soli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92549" y="2911146"/>
            <a:ext cx="10395162" cy="2554545"/>
          </a:xfrm>
          <a:prstGeom prst="rect">
            <a:avLst/>
          </a:pr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10395162"/>
                      <a:gd name="connsiteY0" fmla="*/ 0 h 2554545"/>
                      <a:gd name="connsiteX1" fmla="*/ 10395162 w 10395162"/>
                      <a:gd name="connsiteY1" fmla="*/ 0 h 2554545"/>
                      <a:gd name="connsiteX2" fmla="*/ 10395162 w 10395162"/>
                      <a:gd name="connsiteY2" fmla="*/ 2554545 h 2554545"/>
                      <a:gd name="connsiteX3" fmla="*/ 0 w 10395162"/>
                      <a:gd name="connsiteY3" fmla="*/ 2554545 h 2554545"/>
                      <a:gd name="connsiteX4" fmla="*/ 0 w 10395162"/>
                      <a:gd name="connsiteY4" fmla="*/ 0 h 25545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395162" h="2554545" fill="none" extrusionOk="0">
                        <a:moveTo>
                          <a:pt x="0" y="0"/>
                        </a:moveTo>
                        <a:cubicBezTo>
                          <a:pt x="3985294" y="-149972"/>
                          <a:pt x="6523629" y="85198"/>
                          <a:pt x="10395162" y="0"/>
                        </a:cubicBezTo>
                        <a:cubicBezTo>
                          <a:pt x="10564573" y="1174859"/>
                          <a:pt x="10480716" y="1646850"/>
                          <a:pt x="10395162" y="2554545"/>
                        </a:cubicBezTo>
                        <a:cubicBezTo>
                          <a:pt x="6590769" y="2645921"/>
                          <a:pt x="1602055" y="2548488"/>
                          <a:pt x="0" y="2554545"/>
                        </a:cubicBezTo>
                        <a:cubicBezTo>
                          <a:pt x="-92943" y="1774908"/>
                          <a:pt x="-168235" y="1020494"/>
                          <a:pt x="0" y="0"/>
                        </a:cubicBezTo>
                        <a:close/>
                      </a:path>
                      <a:path w="10395162" h="2554545" stroke="0" extrusionOk="0">
                        <a:moveTo>
                          <a:pt x="0" y="0"/>
                        </a:moveTo>
                        <a:cubicBezTo>
                          <a:pt x="1857884" y="-113254"/>
                          <a:pt x="8375565" y="102601"/>
                          <a:pt x="10395162" y="0"/>
                        </a:cubicBezTo>
                        <a:cubicBezTo>
                          <a:pt x="10342337" y="1023273"/>
                          <a:pt x="10518336" y="1768550"/>
                          <a:pt x="10395162" y="2554545"/>
                        </a:cubicBezTo>
                        <a:cubicBezTo>
                          <a:pt x="6772999" y="2610355"/>
                          <a:pt x="4536916" y="2723503"/>
                          <a:pt x="0" y="2554545"/>
                        </a:cubicBezTo>
                        <a:cubicBezTo>
                          <a:pt x="-144930" y="2188085"/>
                          <a:pt x="-18259" y="36477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Cambria"/>
                <a:ea typeface="Cambria"/>
                <a:cs typeface="Space Grotesk" pitchFamily="2" charset="0"/>
              </a:rPr>
              <a:t>Feedback is a gift</a:t>
            </a:r>
            <a:br>
              <a:rPr lang="en-US" sz="5400" b="1" cap="small" spc="400" dirty="0">
                <a:latin typeface="Space"/>
                <a:cs typeface="Space Grotesk" pitchFamily="2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review this session </a:t>
            </a:r>
          </a:p>
          <a:p>
            <a:pPr algn="ctr"/>
            <a:r>
              <a:rPr lang="en-US" sz="4400" b="1" cap="small" spc="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the mobile App</a:t>
            </a:r>
            <a:endParaRPr lang="en-US" sz="4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4C12DB-2D4D-6777-8D8B-0B0A0FFA82B7}"/>
              </a:ext>
            </a:extLst>
          </p:cNvPr>
          <p:cNvCxnSpPr>
            <a:cxnSpLocks/>
          </p:cNvCxnSpPr>
          <p:nvPr/>
        </p:nvCxnSpPr>
        <p:spPr>
          <a:xfrm>
            <a:off x="898419" y="3911600"/>
            <a:ext cx="103951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ysClr val="window" lastClr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649edd-3005-4233-a3e7-8a8d225fe916" xsi:nil="true"/>
    <lcf76f155ced4ddcb4097134ff3c332f xmlns="5716c540-f2cb-4866-ac44-22c3da4c84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7" ma:contentTypeDescription="Create a new document." ma:contentTypeScope="" ma:versionID="efacb11f427cb0a88b245a21667b355e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7d66e34a69efbc1f01a67fcf9f1d58c2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26532ddb-0539-4ec4-8aaa-822e44af7a13}" ma:internalName="TaxCatchAll" ma:showField="CatchAllData" ma:web="ca649edd-3005-4233-a3e7-8a8d225fe9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4adaadb-c18e-4b42-95dd-bcb8504af3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D37D00-0CCE-41F8-AFAD-3AE3642D56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49edd-3005-4233-a3e7-8a8d225fe916"/>
    <ds:schemaRef ds:uri="5716c540-f2cb-4866-ac44-22c3da4c84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70051d7-ca08-4339-bade-6d710a2ff616}" enabled="0" method="" siteId="{a70051d7-ca08-4339-bade-6d710a2ff6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231</Words>
  <Application>Microsoft Office PowerPoint</Application>
  <PresentationFormat>Widescreen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</vt:lpstr>
      <vt:lpstr>Play</vt:lpstr>
      <vt:lpstr>Play </vt:lpstr>
      <vt:lpstr>Space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Actions</vt:lpstr>
      <vt:lpstr>PowerPoint Presentation</vt:lpstr>
      <vt:lpstr>Word of Caution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Adam Driscoll</cp:lastModifiedBy>
  <cp:revision>22</cp:revision>
  <dcterms:created xsi:type="dcterms:W3CDTF">2022-12-09T06:31:24Z</dcterms:created>
  <dcterms:modified xsi:type="dcterms:W3CDTF">2026-04-14T17:26:32Z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