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74" r:id="rId5"/>
    <p:sldId id="322" r:id="rId6"/>
    <p:sldId id="323" r:id="rId7"/>
    <p:sldId id="312" r:id="rId8"/>
    <p:sldId id="310" r:id="rId9"/>
    <p:sldId id="313" r:id="rId10"/>
    <p:sldId id="315" r:id="rId11"/>
    <p:sldId id="314" r:id="rId12"/>
    <p:sldId id="316" r:id="rId13"/>
    <p:sldId id="29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C2D19-0730-64B5-0129-8732EE7DB6CC}" v="123" dt="2025-10-13T14:42:52.300"/>
    <p1510:client id="{E04624FD-B794-4535-80F2-2C1BB0C1FAB3}" v="18" dt="2025-10-13T14:39:0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402445"/>
            <a:ext cx="1179870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5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PIMP YOUR </a:t>
            </a:r>
            <a:r>
              <a:rPr lang="en-US" sz="54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PARAMETERS</a:t>
            </a:r>
          </a:p>
          <a:p>
            <a:pPr algn="ctr">
              <a:tabLst>
                <a:tab pos="3835400" algn="l"/>
              </a:tabLst>
            </a:pPr>
            <a:r>
              <a:rPr lang="en-US" sz="32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The Magic of Validation Classes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Emrys MacInally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>
                <a:latin typeface="Play"/>
                <a:cs typeface="Space Grotesk" pitchFamily="2" charset="0"/>
              </a:rPr>
              <a:t>@emrys.macinally.de</a:t>
            </a:r>
          </a:p>
        </p:txBody>
      </p:sp>
    </p:spTree>
    <p:extLst>
      <p:ext uri="{BB962C8B-B14F-4D97-AF65-F5344CB8AC3E}">
        <p14:creationId xmlns:p14="http://schemas.microsoft.com/office/powerpoint/2010/main" val="3578226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chocolate bar&#10;&#10;AI-generated content may be incorrect.">
            <a:extLst>
              <a:ext uri="{FF2B5EF4-FFF2-40B4-BE49-F238E27FC236}">
                <a16:creationId xmlns:a16="http://schemas.microsoft.com/office/drawing/2014/main" id="{4C8B71A1-F742-31A9-70E6-B39CC1967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709"/>
            <a:ext cx="12192000" cy="553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07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C63580-3001-6420-CA57-7C67C08B04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01309" y="1493628"/>
            <a:ext cx="7690691" cy="4318000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Teamlead</a:t>
            </a:r>
            <a:r>
              <a:rPr lang="en-US" dirty="0">
                <a:solidFill>
                  <a:srgbClr val="000000"/>
                </a:solidFill>
              </a:rPr>
              <a:t> ATLAS @ </a:t>
            </a:r>
            <a:r>
              <a:rPr lang="en-US" dirty="0" err="1">
                <a:solidFill>
                  <a:srgbClr val="000000"/>
                </a:solidFill>
              </a:rPr>
              <a:t>medavis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Over 20 years in the IT Industry</a:t>
            </a:r>
          </a:p>
          <a:p>
            <a:r>
              <a:rPr lang="en-US" dirty="0">
                <a:solidFill>
                  <a:srgbClr val="000000"/>
                </a:solidFill>
              </a:rPr>
              <a:t>Fell in       with PowerShell 17 years ago</a:t>
            </a:r>
          </a:p>
          <a:p>
            <a:r>
              <a:rPr lang="en-US" dirty="0">
                <a:solidFill>
                  <a:srgbClr val="000000"/>
                </a:solidFill>
              </a:rPr>
              <a:t>…. and I hate PowerPoint!	https://powerpointisfun.com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566B78-559C-FC61-D023-1F2D5643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About Me</a:t>
            </a:r>
          </a:p>
        </p:txBody>
      </p:sp>
      <p:pic>
        <p:nvPicPr>
          <p:cNvPr id="4" name="Graphic 3" descr="Heart with solid fill">
            <a:extLst>
              <a:ext uri="{FF2B5EF4-FFF2-40B4-BE49-F238E27FC236}">
                <a16:creationId xmlns:a16="http://schemas.microsoft.com/office/drawing/2014/main" id="{1E632409-B36A-AD7D-E415-BFB448F87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74214" y="2452283"/>
            <a:ext cx="516834" cy="516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7D5FAF-70A5-C1A2-A69B-ADF970362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07" y="1332019"/>
            <a:ext cx="2986406" cy="44796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6366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2C9312-6A3E-96F0-EE01-E38F618DB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4318000"/>
          </a:xfrm>
        </p:spPr>
        <p:txBody>
          <a:bodyPr/>
          <a:lstStyle/>
          <a:p>
            <a:r>
              <a:rPr lang="en-US" b="0" dirty="0">
                <a:solidFill>
                  <a:srgbClr val="000000"/>
                </a:solidFill>
              </a:rPr>
              <a:t>Quick Recap: Built-in Validation Attributes</a:t>
            </a:r>
          </a:p>
          <a:p>
            <a:r>
              <a:rPr lang="en-US" b="0" dirty="0">
                <a:solidFill>
                  <a:srgbClr val="000000"/>
                </a:solidFill>
              </a:rPr>
              <a:t>Why Go Custom? When built-in isn't enough</a:t>
            </a:r>
          </a:p>
          <a:p>
            <a:r>
              <a:rPr lang="en-US" b="0" dirty="0">
                <a:solidFill>
                  <a:srgbClr val="000000"/>
                </a:solidFill>
              </a:rPr>
              <a:t>Demo: Building Custom Validation Classes</a:t>
            </a:r>
          </a:p>
          <a:p>
            <a:r>
              <a:rPr lang="en-US" b="0" dirty="0">
                <a:solidFill>
                  <a:srgbClr val="000000"/>
                </a:solidFill>
              </a:rPr>
              <a:t>Demo: Real-World Examples – Tickets, SemVer, Security</a:t>
            </a:r>
          </a:p>
          <a:p>
            <a:r>
              <a:rPr lang="en-US" b="0" dirty="0">
                <a:solidFill>
                  <a:srgbClr val="000000"/>
                </a:solidFill>
              </a:rPr>
              <a:t>Demo: Constructor Parameters &amp; Reusable Validators</a:t>
            </a:r>
          </a:p>
          <a:p>
            <a:r>
              <a:rPr lang="en-US" b="0" dirty="0">
                <a:solidFill>
                  <a:srgbClr val="000000"/>
                </a:solidFill>
              </a:rPr>
              <a:t>The Trilogy: Completers + Transformers + Validators</a:t>
            </a:r>
          </a:p>
          <a:p>
            <a:r>
              <a:rPr lang="en-US" b="0" dirty="0">
                <a:solidFill>
                  <a:srgbClr val="000000"/>
                </a:solidFill>
              </a:rPr>
              <a:t>Q&amp;A: Questions &amp; Discussion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DB0063-FC79-9B2F-C90E-7A7345EF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lay  (Body)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75857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927508-170F-5BBB-ADCA-92F3123375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7204" y="1270000"/>
            <a:ext cx="9903723" cy="4318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[ValidateNotNull] – Rejects $null</a:t>
            </a:r>
          </a:p>
          <a:p>
            <a:r>
              <a:rPr lang="en-US" dirty="0">
                <a:solidFill>
                  <a:srgbClr val="000000"/>
                </a:solidFill>
              </a:rPr>
              <a:t>[ValidateNotNullOrEmpty] – Rejects $null and empty</a:t>
            </a:r>
          </a:p>
          <a:p>
            <a:r>
              <a:rPr lang="en-US" dirty="0">
                <a:solidFill>
                  <a:srgbClr val="000000"/>
                </a:solidFill>
              </a:rPr>
              <a:t>[ValidateSet] – Allowed values list</a:t>
            </a:r>
          </a:p>
          <a:p>
            <a:r>
              <a:rPr lang="en-US" dirty="0">
                <a:solidFill>
                  <a:srgbClr val="000000"/>
                </a:solidFill>
              </a:rPr>
              <a:t>[ValidateRange] – Numeric min/max</a:t>
            </a:r>
          </a:p>
          <a:p>
            <a:r>
              <a:rPr lang="en-US" dirty="0">
                <a:solidFill>
                  <a:srgbClr val="000000"/>
                </a:solidFill>
              </a:rPr>
              <a:t>[ValidateLength] – String length min/max</a:t>
            </a:r>
          </a:p>
          <a:p>
            <a:r>
              <a:rPr lang="en-US" dirty="0">
                <a:solidFill>
                  <a:srgbClr val="000000"/>
                </a:solidFill>
              </a:rPr>
              <a:t>[ValidateCount] – Array element count</a:t>
            </a:r>
          </a:p>
          <a:p>
            <a:r>
              <a:rPr lang="en-US" dirty="0">
                <a:solidFill>
                  <a:srgbClr val="000000"/>
                </a:solidFill>
              </a:rPr>
              <a:t>[ValidatePattern] – Regex matching</a:t>
            </a:r>
          </a:p>
          <a:p>
            <a:r>
              <a:rPr lang="en-US" dirty="0">
                <a:solidFill>
                  <a:srgbClr val="000000"/>
                </a:solidFill>
              </a:rPr>
              <a:t>[ValidateScript] – Custom scriptblock</a:t>
            </a:r>
          </a:p>
          <a:p>
            <a:r>
              <a:rPr lang="en-US" dirty="0">
                <a:solidFill>
                  <a:srgbClr val="000000"/>
                </a:solidFill>
              </a:rPr>
              <a:t>Great for simple cases... but what about complex rules?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224678-30A7-F9A8-B6E1-8B0E3127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Validation</a:t>
            </a:r>
          </a:p>
        </p:txBody>
      </p:sp>
    </p:spTree>
    <p:extLst>
      <p:ext uri="{BB962C8B-B14F-4D97-AF65-F5344CB8AC3E}">
        <p14:creationId xmlns:p14="http://schemas.microsoft.com/office/powerpoint/2010/main" val="123897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6FA4EC-548C-BA04-4C2E-4D36D9995F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9008" y="1270000"/>
            <a:ext cx="9903723" cy="4318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Write once, validate everywhere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</a:rPr>
              <a:t>Define your rule once. Use it on any parameter, any function.</a:t>
            </a:r>
          </a:p>
          <a:p>
            <a:r>
              <a:rPr lang="en-US" dirty="0">
                <a:solidFill>
                  <a:srgbClr val="000000"/>
                </a:solidFill>
              </a:rPr>
              <a:t>Friendly error messages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</a:rPr>
              <a:t>No more cryptic regex errors. Tell users exactly what went wrong.</a:t>
            </a:r>
          </a:p>
          <a:p>
            <a:r>
              <a:rPr lang="en-US" dirty="0">
                <a:solidFill>
                  <a:srgbClr val="000000"/>
                </a:solidFill>
              </a:rPr>
              <a:t>Encapsulate business rules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</a:rPr>
              <a:t>Ticket IDs, SemVer, naming conventions – all in one clean class.</a:t>
            </a:r>
          </a:p>
          <a:p>
            <a:r>
              <a:rPr lang="en-US" dirty="0">
                <a:solidFill>
                  <a:srgbClr val="000000"/>
                </a:solidFill>
              </a:rPr>
              <a:t>Configurable via constructors</a:t>
            </a:r>
          </a:p>
          <a:p>
            <a:pPr lvl="1"/>
            <a:r>
              <a:rPr lang="en-US" sz="2800" dirty="0">
                <a:solidFill>
                  <a:srgbClr val="000000"/>
                </a:solidFill>
              </a:rPr>
              <a:t>Pass parameters to your validator. One class, many contexts.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4A275D-B30A-7BE6-24F1-8F094097D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568" y="158091"/>
            <a:ext cx="7456604" cy="1325563"/>
          </a:xfrm>
        </p:spPr>
        <p:txBody>
          <a:bodyPr/>
          <a:lstStyle/>
          <a:p>
            <a:r>
              <a:rPr lang="en-US" sz="4000" dirty="0">
                <a:solidFill>
                  <a:srgbClr val="000000"/>
                </a:solidFill>
              </a:rPr>
              <a:t>Why Go Custom</a:t>
            </a:r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0315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93934-D31A-2C1E-FC4C-4E7FAE38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313966-3D2D-A7F3-D875-76A56359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Demo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453FC-9944-443F-49AF-22BF99076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87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840A1F-A359-E417-4758-FB9618775D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4318000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Derive from ValidateArgumentsAttribute</a:t>
            </a:r>
          </a:p>
          <a:p>
            <a:r>
              <a:rPr lang="en-US" dirty="0">
                <a:solidFill>
                  <a:srgbClr val="000000"/>
                </a:solidFill>
              </a:rPr>
              <a:t>Throw exceptions for bad data, return void for good</a:t>
            </a:r>
          </a:p>
          <a:p>
            <a:r>
              <a:rPr lang="en-US" dirty="0">
                <a:solidFill>
                  <a:srgbClr val="000000"/>
                </a:solidFill>
              </a:rPr>
              <a:t>Constructor parameters make validators configurable</a:t>
            </a:r>
          </a:p>
          <a:p>
            <a:r>
              <a:rPr lang="en-US" dirty="0">
                <a:solidFill>
                  <a:srgbClr val="000000"/>
                </a:solidFill>
              </a:rPr>
              <a:t>Write once, reuse across all your functions</a:t>
            </a:r>
          </a:p>
          <a:p>
            <a:r>
              <a:rPr lang="en-US" dirty="0">
                <a:solidFill>
                  <a:srgbClr val="000000"/>
                </a:solidFill>
              </a:rPr>
              <a:t>Combine with Completers &amp; Transformers for the full trilogy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F33691-C69F-7318-4B05-4D381F24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129941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DEB68-E610-6A65-B26B-DD7AC52C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AA40AA-9095-482B-4D8B-15C2B9F76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4138" y="2585289"/>
            <a:ext cx="9903723" cy="2017730"/>
          </a:xfrm>
        </p:spPr>
        <p:txBody>
          <a:bodyPr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555328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1790234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</a:p>
          <a:p>
            <a:pPr algn="ctr"/>
            <a:r>
              <a:rPr lang="en-US" sz="28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via the mobile App</a:t>
            </a:r>
          </a:p>
          <a:p>
            <a:pPr algn="ctr">
              <a:spcBef>
                <a:spcPts val="800"/>
              </a:spcBef>
            </a:pPr>
            <a:r>
              <a:rPr lang="en-US" sz="2000" dirty="0">
                <a:solidFill>
                  <a:srgbClr val="00AEEF"/>
                </a:solidFill>
                <a:latin typeface="Play" pitchFamily="2" charset="0"/>
              </a:rPr>
              <a:t>Emrys MacInally  |  @emrys.macinally.de on Bluesky</a:t>
            </a:r>
          </a:p>
          <a:p>
            <a:pPr algn="ctr">
              <a:spcBef>
                <a:spcPts val="200"/>
              </a:spcBef>
            </a:pPr>
            <a:r>
              <a:rPr lang="en-US" sz="1800" dirty="0">
                <a:solidFill>
                  <a:schemeClr val="bg1"/>
                </a:solidFill>
                <a:latin typeface="Play" pitchFamily="2" charset="0"/>
              </a:rPr>
              <a:t>Code &amp; slides available on GitHub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323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17569E-8761-4725-BC6E-7CBA075475C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8994e16-9198-4646-875e-839d9dbc057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Widescreen</PresentationFormat>
  <Paragraphs>51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Play</vt:lpstr>
      <vt:lpstr>Play </vt:lpstr>
      <vt:lpstr>Play  (Body)</vt:lpstr>
      <vt:lpstr>Space Grotesk</vt:lpstr>
      <vt:lpstr>Office Theme</vt:lpstr>
      <vt:lpstr>PowerPoint Presentation</vt:lpstr>
      <vt:lpstr>PowerPoint Presentation</vt:lpstr>
      <vt:lpstr>About Me</vt:lpstr>
      <vt:lpstr>Agenda</vt:lpstr>
      <vt:lpstr>Built-in Validation</vt:lpstr>
      <vt:lpstr>Why Go Custom?</vt:lpstr>
      <vt:lpstr>Demo</vt:lpstr>
      <vt:lpstr>Key Takeaways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Emrys MacInally</cp:lastModifiedBy>
  <cp:revision>9</cp:revision>
  <dcterms:created xsi:type="dcterms:W3CDTF">2022-12-09T06:31:24Z</dcterms:created>
  <dcterms:modified xsi:type="dcterms:W3CDTF">2026-04-13T20:55:37Z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